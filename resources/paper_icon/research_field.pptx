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A5B1"/>
    <a:srgbClr val="532235"/>
    <a:srgbClr val="1A2235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79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-635" y="233680"/>
            <a:ext cx="12192635" cy="2531745"/>
            <a:chOff x="-1" y="368"/>
            <a:chExt cx="19201" cy="3987"/>
          </a:xfrm>
        </p:grpSpPr>
        <p:sp>
          <p:nvSpPr>
            <p:cNvPr id="8" name="圆角矩形 7"/>
            <p:cNvSpPr/>
            <p:nvPr/>
          </p:nvSpPr>
          <p:spPr>
            <a:xfrm>
              <a:off x="-1" y="368"/>
              <a:ext cx="19201" cy="3987"/>
            </a:xfrm>
            <a:prstGeom prst="roundRect">
              <a:avLst>
                <a:gd name="adj" fmla="val 0"/>
              </a:avLst>
            </a:prstGeom>
            <a:solidFill>
              <a:srgbClr val="1A223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4" name="圆角矩形 153"/>
            <p:cNvSpPr/>
            <p:nvPr/>
          </p:nvSpPr>
          <p:spPr>
            <a:xfrm>
              <a:off x="388" y="1024"/>
              <a:ext cx="9309" cy="847"/>
            </a:xfrm>
            <a:prstGeom prst="roundRect">
              <a:avLst>
                <a:gd name="adj" fmla="val 1851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600">
                <a:solidFill>
                  <a:schemeClr val="tx1"/>
                </a:solidFill>
                <a:latin typeface="Georgia" panose="02040502050405020303" charset="0"/>
                <a:cs typeface="Georgia" panose="02040502050405020303" charset="0"/>
              </a:endParaRPr>
            </a:p>
          </p:txBody>
        </p:sp>
        <p:grpSp>
          <p:nvGrpSpPr>
            <p:cNvPr id="165" name="组合 164"/>
            <p:cNvGrpSpPr/>
            <p:nvPr/>
          </p:nvGrpSpPr>
          <p:grpSpPr>
            <a:xfrm>
              <a:off x="11294" y="1026"/>
              <a:ext cx="5616" cy="2648"/>
              <a:chOff x="10169" y="1026"/>
              <a:chExt cx="5616" cy="2648"/>
            </a:xfrm>
          </p:grpSpPr>
          <p:sp>
            <p:nvSpPr>
              <p:cNvPr id="19" name="圆角矩形 18"/>
              <p:cNvSpPr/>
              <p:nvPr/>
            </p:nvSpPr>
            <p:spPr>
              <a:xfrm>
                <a:off x="10169" y="1026"/>
                <a:ext cx="5568" cy="2648"/>
              </a:xfrm>
              <a:prstGeom prst="roundRect">
                <a:avLst>
                  <a:gd name="adj" fmla="val 4982"/>
                </a:avLst>
              </a:prstGeom>
              <a:noFill/>
              <a:ln>
                <a:solidFill>
                  <a:schemeClr val="bg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600">
                  <a:solidFill>
                    <a:schemeClr val="tx1"/>
                  </a:solidFill>
                  <a:latin typeface="Georgia" panose="02040502050405020303" charset="0"/>
                  <a:cs typeface="Georgia" panose="02040502050405020303" charset="0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10170" y="1051"/>
                <a:ext cx="5566" cy="1936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algn="ctr"/>
                <a:r>
                  <a:rPr lang="en-US" altLang="zh-CN" sz="1400">
                    <a:solidFill>
                      <a:srgbClr val="9BA5B1"/>
                    </a:solidFill>
                    <a:latin typeface="Georgia" panose="02040502050405020303" charset="0"/>
                    <a:cs typeface="Georgia" panose="02040502050405020303" charset="0"/>
                    <a:sym typeface="+mn-ea"/>
                  </a:rPr>
                  <a:t>Multi-source, Multi-task , Multi-modal, Cross-domian, Expert model, Unified model, Specific scene, General scene</a:t>
                </a:r>
                <a:endParaRPr lang="en-US" altLang="zh-CN" sz="1400">
                  <a:solidFill>
                    <a:srgbClr val="9BA5B1"/>
                  </a:solidFill>
                  <a:latin typeface="Georgia" panose="02040502050405020303" charset="0"/>
                  <a:cs typeface="Georgia" panose="02040502050405020303" charset="0"/>
                </a:endParaRPr>
              </a:p>
              <a:p>
                <a:pPr algn="ctr"/>
                <a:r>
                  <a:rPr lang="en-US" altLang="zh-CN" sz="1400">
                    <a:solidFill>
                      <a:srgbClr val="9BA5B1"/>
                    </a:solidFill>
                    <a:latin typeface="Georgia" panose="02040502050405020303" charset="0"/>
                    <a:cs typeface="Georgia" panose="02040502050405020303" charset="0"/>
                    <a:sym typeface="+mn-ea"/>
                  </a:rPr>
                  <a:t>AI4X (Industry, Health, Science)</a:t>
                </a:r>
                <a:endParaRPr lang="en-US" altLang="zh-CN" sz="1400">
                  <a:solidFill>
                    <a:srgbClr val="9BA5B1"/>
                  </a:solidFill>
                  <a:latin typeface="Georgia" panose="02040502050405020303" charset="0"/>
                  <a:cs typeface="Georgia" panose="02040502050405020303" charset="0"/>
                </a:endParaRPr>
              </a:p>
              <a:p>
                <a:pPr algn="ctr"/>
                <a:endParaRPr lang="en-US" altLang="zh-CN" sz="1400">
                  <a:solidFill>
                    <a:srgbClr val="9BA5B1"/>
                  </a:solidFill>
                  <a:latin typeface="Georgia" panose="02040502050405020303" charset="0"/>
                  <a:cs typeface="Georgia" panose="02040502050405020303" charset="0"/>
                </a:endParaRPr>
              </a:p>
              <a:p>
                <a:pPr algn="ctr"/>
                <a:endParaRPr lang="en-US" altLang="zh-CN" sz="1400">
                  <a:solidFill>
                    <a:srgbClr val="9BA5B1"/>
                  </a:solidFill>
                  <a:latin typeface="Georgia" panose="02040502050405020303" charset="0"/>
                  <a:cs typeface="Georgia" panose="02040502050405020303" charset="0"/>
                </a:endParaRPr>
              </a:p>
            </p:txBody>
          </p:sp>
          <p:cxnSp>
            <p:nvCxnSpPr>
              <p:cNvPr id="32" name="直接连接符 31"/>
              <p:cNvCxnSpPr/>
              <p:nvPr/>
            </p:nvCxnSpPr>
            <p:spPr>
              <a:xfrm>
                <a:off x="10219" y="2567"/>
                <a:ext cx="5507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文本框 32"/>
              <p:cNvSpPr txBox="1"/>
              <p:nvPr/>
            </p:nvSpPr>
            <p:spPr>
              <a:xfrm>
                <a:off x="10219" y="2658"/>
                <a:ext cx="5566" cy="828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algn="ctr"/>
                <a:r>
                  <a:rPr lang="en-US" altLang="zh-CN" sz="1200">
                    <a:solidFill>
                      <a:srgbClr val="9BA5B1"/>
                    </a:solidFill>
                    <a:latin typeface="Georgia" panose="02040502050405020303" charset="0"/>
                    <a:cs typeface="Georgia" panose="02040502050405020303" charset="0"/>
                  </a:rPr>
                  <a:t>Spider (ICML'24), GateNet (IJCV'24 &amp; ECCV'20), UniMRSeg (NeurIPS'25),  MDCNet (CVPR'24),  SSLSOD (AAAI'22), OVCoser (ECCV'24) ...</a:t>
                </a:r>
                <a:endParaRPr lang="en-US" altLang="zh-CN" sz="1200">
                  <a:solidFill>
                    <a:srgbClr val="9BA5B1"/>
                  </a:solidFill>
                  <a:latin typeface="Georgia" panose="02040502050405020303" charset="0"/>
                  <a:cs typeface="Georgia" panose="02040502050405020303" charset="0"/>
                </a:endParaRPr>
              </a:p>
            </p:txBody>
          </p:sp>
        </p:grpSp>
        <p:sp>
          <p:nvSpPr>
            <p:cNvPr id="35" name="文本框 34"/>
            <p:cNvSpPr txBox="1"/>
            <p:nvPr/>
          </p:nvSpPr>
          <p:spPr>
            <a:xfrm>
              <a:off x="16521" y="1222"/>
              <a:ext cx="254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solidFill>
                    <a:srgbClr val="9BA5B1"/>
                  </a:solidFill>
                  <a:latin typeface="Georgia" panose="02040502050405020303" charset="0"/>
                  <a:cs typeface="Georgia" panose="02040502050405020303" charset="0"/>
                </a:rPr>
                <a:t>AGI  Engine </a:t>
              </a:r>
              <a:endParaRPr lang="en-US" altLang="zh-CN" sz="1400">
                <a:solidFill>
                  <a:srgbClr val="9BA5B1"/>
                </a:solidFill>
                <a:latin typeface="Georgia" panose="02040502050405020303" charset="0"/>
                <a:cs typeface="Georgia" panose="02040502050405020303" charset="0"/>
              </a:endParaRPr>
            </a:p>
          </p:txBody>
        </p:sp>
        <p:cxnSp>
          <p:nvCxnSpPr>
            <p:cNvPr id="36" name="直接箭头连接符 35"/>
            <p:cNvCxnSpPr/>
            <p:nvPr/>
          </p:nvCxnSpPr>
          <p:spPr>
            <a:xfrm flipV="1">
              <a:off x="17089" y="1771"/>
              <a:ext cx="1417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1" name="圆角矩形 160"/>
            <p:cNvSpPr/>
            <p:nvPr/>
          </p:nvSpPr>
          <p:spPr>
            <a:xfrm>
              <a:off x="388" y="1824"/>
              <a:ext cx="9309" cy="835"/>
            </a:xfrm>
            <a:prstGeom prst="roundRect">
              <a:avLst>
                <a:gd name="adj" fmla="val 18513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600">
                <a:solidFill>
                  <a:schemeClr val="tx1"/>
                </a:solidFill>
                <a:latin typeface="Georgia" panose="02040502050405020303" charset="0"/>
                <a:cs typeface="Georgia" panose="02040502050405020303" charset="0"/>
              </a:endParaRPr>
            </a:p>
          </p:txBody>
        </p:sp>
        <p:sp>
          <p:nvSpPr>
            <p:cNvPr id="162" name="圆角矩形 161"/>
            <p:cNvSpPr/>
            <p:nvPr/>
          </p:nvSpPr>
          <p:spPr>
            <a:xfrm>
              <a:off x="388" y="2659"/>
              <a:ext cx="9309" cy="1029"/>
            </a:xfrm>
            <a:prstGeom prst="roundRect">
              <a:avLst>
                <a:gd name="adj" fmla="val 18513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600">
                <a:solidFill>
                  <a:schemeClr val="tx1"/>
                </a:solidFill>
                <a:latin typeface="Georgia" panose="02040502050405020303" charset="0"/>
                <a:cs typeface="Georgia" panose="02040502050405020303" charset="0"/>
              </a:endParaRPr>
            </a:p>
          </p:txBody>
        </p:sp>
        <p:grpSp>
          <p:nvGrpSpPr>
            <p:cNvPr id="164" name="组合 163"/>
            <p:cNvGrpSpPr/>
            <p:nvPr/>
          </p:nvGrpSpPr>
          <p:grpSpPr>
            <a:xfrm>
              <a:off x="388" y="1068"/>
              <a:ext cx="9153" cy="2394"/>
              <a:chOff x="388" y="1068"/>
              <a:chExt cx="9153" cy="1707"/>
            </a:xfrm>
          </p:grpSpPr>
          <p:sp>
            <p:nvSpPr>
              <p:cNvPr id="4" name="文本框 3"/>
              <p:cNvSpPr txBox="1"/>
              <p:nvPr/>
            </p:nvSpPr>
            <p:spPr>
              <a:xfrm>
                <a:off x="388" y="1732"/>
                <a:ext cx="6573" cy="37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 sz="1600">
                    <a:latin typeface="Georgia" panose="02040502050405020303" charset="0"/>
                    <a:cs typeface="Georgia" panose="02040502050405020303" charset="0"/>
                  </a:rPr>
                  <a:t>Unified Visual Perception System</a:t>
                </a:r>
                <a:endParaRPr lang="en-US" altLang="zh-CN" sz="1600">
                  <a:latin typeface="Georgia" panose="02040502050405020303" charset="0"/>
                  <a:cs typeface="Georgia" panose="02040502050405020303" charset="0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388" y="2396"/>
                <a:ext cx="9153" cy="37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 sz="1600">
                    <a:latin typeface="Georgia" panose="02040502050405020303" charset="0"/>
                    <a:cs typeface="Georgia" panose="02040502050405020303" charset="0"/>
                  </a:rPr>
                  <a:t>Ai4Health, </a:t>
                </a:r>
                <a:r>
                  <a:rPr lang="en-US" altLang="zh-CN" sz="1600">
                    <a:latin typeface="Georgia" panose="02040502050405020303" charset="0"/>
                    <a:cs typeface="Georgia" panose="02040502050405020303" charset="0"/>
                    <a:sym typeface="+mn-ea"/>
                  </a:rPr>
                  <a:t>Ai4Industry, AI4ResearchTools, AI4Photography ...</a:t>
                </a:r>
                <a:endParaRPr lang="en-US" altLang="zh-CN" sz="1600">
                  <a:latin typeface="Georgia" panose="02040502050405020303" charset="0"/>
                  <a:cs typeface="Georgia" panose="02040502050405020303" charset="0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388" y="1068"/>
                <a:ext cx="8334" cy="37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 sz="1600">
                    <a:latin typeface="Georgia" panose="02040502050405020303" charset="0"/>
                    <a:cs typeface="Georgia" panose="02040502050405020303" charset="0"/>
                  </a:rPr>
                  <a:t>Self-driven Learning Mode</a:t>
                </a:r>
                <a:endParaRPr lang="en-US" altLang="zh-CN" sz="1600">
                  <a:latin typeface="Georgia" panose="02040502050405020303" charset="0"/>
                  <a:cs typeface="Georgia" panose="02040502050405020303" charset="0"/>
                </a:endParaRPr>
              </a:p>
            </p:txBody>
          </p:sp>
        </p:grpSp>
        <p:cxnSp>
          <p:nvCxnSpPr>
            <p:cNvPr id="169" name="直接箭头连接符 168"/>
            <p:cNvCxnSpPr/>
            <p:nvPr/>
          </p:nvCxnSpPr>
          <p:spPr>
            <a:xfrm flipV="1">
              <a:off x="9798" y="2549"/>
              <a:ext cx="1417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0" name="文本框 169"/>
            <p:cNvSpPr txBox="1"/>
            <p:nvPr/>
          </p:nvSpPr>
          <p:spPr>
            <a:xfrm>
              <a:off x="9653" y="1222"/>
              <a:ext cx="144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altLang="zh-CN" sz="1400">
                  <a:solidFill>
                    <a:srgbClr val="9BA5B1"/>
                  </a:solidFill>
                  <a:latin typeface="Georgia" panose="02040502050405020303" charset="0"/>
                  <a:cs typeface="Georgia" panose="02040502050405020303" charset="0"/>
                </a:rPr>
                <a:t>Pattern</a:t>
              </a:r>
              <a:endParaRPr lang="en-US" altLang="zh-CN" sz="1400">
                <a:solidFill>
                  <a:srgbClr val="9BA5B1"/>
                </a:solidFill>
                <a:latin typeface="Georgia" panose="02040502050405020303" charset="0"/>
                <a:cs typeface="Georgia" panose="02040502050405020303" charset="0"/>
              </a:endParaRPr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9294" y="2004"/>
              <a:ext cx="20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altLang="zh-CN" sz="1400">
                  <a:solidFill>
                    <a:srgbClr val="9BA5B1"/>
                  </a:solidFill>
                  <a:latin typeface="Georgia" panose="02040502050405020303" charset="0"/>
                  <a:cs typeface="Georgia" panose="02040502050405020303" charset="0"/>
                </a:rPr>
                <a:t>Unification</a:t>
              </a:r>
              <a:endParaRPr lang="en-US" altLang="zh-CN" sz="1400">
                <a:solidFill>
                  <a:srgbClr val="9BA5B1"/>
                </a:solidFill>
                <a:latin typeface="Georgia" panose="02040502050405020303" charset="0"/>
                <a:cs typeface="Georgia" panose="02040502050405020303" charset="0"/>
              </a:endParaRPr>
            </a:p>
          </p:txBody>
        </p:sp>
        <p:sp>
          <p:nvSpPr>
            <p:cNvPr id="173" name="文本框 172"/>
            <p:cNvSpPr txBox="1"/>
            <p:nvPr/>
          </p:nvSpPr>
          <p:spPr>
            <a:xfrm>
              <a:off x="9489" y="2832"/>
              <a:ext cx="206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solidFill>
                    <a:srgbClr val="9BA5B1"/>
                  </a:solidFill>
                  <a:latin typeface="Georgia" panose="02040502050405020303" charset="0"/>
                  <a:cs typeface="Georgia" panose="02040502050405020303" charset="0"/>
                </a:rPr>
                <a:t>AI4X</a:t>
              </a:r>
              <a:endParaRPr lang="en-US" altLang="zh-CN" sz="1400">
                <a:solidFill>
                  <a:srgbClr val="9BA5B1"/>
                </a:solidFill>
                <a:latin typeface="Georgia" panose="02040502050405020303" charset="0"/>
                <a:cs typeface="Georgia" panose="02040502050405020303" charset="0"/>
              </a:endParaRPr>
            </a:p>
            <a:p>
              <a:pPr algn="ctr"/>
              <a:r>
                <a:rPr lang="en-US" altLang="zh-CN" sz="1400">
                  <a:solidFill>
                    <a:srgbClr val="9BA5B1"/>
                  </a:solidFill>
                  <a:latin typeface="Georgia" panose="02040502050405020303" charset="0"/>
                  <a:cs typeface="Georgia" panose="02040502050405020303" charset="0"/>
                </a:rPr>
                <a:t>Application</a:t>
              </a:r>
              <a:endParaRPr lang="en-US" altLang="zh-CN" sz="1400">
                <a:solidFill>
                  <a:srgbClr val="9BA5B1"/>
                </a:solidFill>
                <a:latin typeface="Georgia" panose="02040502050405020303" charset="0"/>
                <a:cs typeface="Georgia" panose="02040502050405020303" charset="0"/>
              </a:endParaRPr>
            </a:p>
          </p:txBody>
        </p:sp>
        <p:pic>
          <p:nvPicPr>
            <p:cNvPr id="177" name="图片 176" descr="Gemini_Generated_Image_drl7jrdrl7jrdrl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7028" y="1960"/>
              <a:ext cx="1561" cy="1561"/>
            </a:xfrm>
            <a:prstGeom prst="rect">
              <a:avLst/>
            </a:prstGeom>
          </p:spPr>
        </p:pic>
      </p:grp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WPS 演示</Application>
  <PresentationFormat>宽屏</PresentationFormat>
  <Paragraphs>22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Georgia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Fold</cp:lastModifiedBy>
  <cp:revision>157</cp:revision>
  <dcterms:created xsi:type="dcterms:W3CDTF">2019-06-19T02:08:00Z</dcterms:created>
  <dcterms:modified xsi:type="dcterms:W3CDTF">2026-03-12T03:53:51Z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65E7E55DE77F4B07A9D2B7AAB1345E26_11</vt:lpwstr>
  </property>
</Properties>
</file>